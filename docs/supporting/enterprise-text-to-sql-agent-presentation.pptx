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4d9d699b69477d" /><Relationship Type="http://schemas.openxmlformats.org/officeDocument/2006/relationships/extended-properties" Target="/docProps/app.xml" Id="R7f9a61a7e0e6448b" /><Relationship Type="http://schemas.openxmlformats.org/officeDocument/2006/relationships/officeDocument" Target="/ppt/presentation.xml" Id="Rf894e826121145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4e417acaad4e26"/>
  </p:sldMasterIdLst>
  <p:notesMasterIdLst>
    <p:notesMasterId xmlns:r="http://schemas.openxmlformats.org/officeDocument/2006/relationships" r:id="Rd69df65c064e4a0c"/>
  </p:notesMasterIdLst>
  <p:sldIdLst>
    <p:sldId xmlns:r="http://schemas.openxmlformats.org/officeDocument/2006/relationships" id="256" r:id="R0e4b8b21528f4753"/>
    <p:sldId xmlns:r="http://schemas.openxmlformats.org/officeDocument/2006/relationships" id="257" r:id="Rc924cd91472d4bd7"/>
    <p:sldId xmlns:r="http://schemas.openxmlformats.org/officeDocument/2006/relationships" id="258" r:id="Rd020fd29a2904811"/>
    <p:sldId xmlns:r="http://schemas.openxmlformats.org/officeDocument/2006/relationships" id="259" r:id="R8ba638ec190b40a2"/>
    <p:sldId xmlns:r="http://schemas.openxmlformats.org/officeDocument/2006/relationships" id="260" r:id="Rb8b6c4943dc14629"/>
    <p:sldId xmlns:r="http://schemas.openxmlformats.org/officeDocument/2006/relationships" id="261" r:id="R3af29d30f1334622"/>
    <p:sldId xmlns:r="http://schemas.openxmlformats.org/officeDocument/2006/relationships" id="262" r:id="R42044369b8fd4b74"/>
    <p:sldId xmlns:r="http://schemas.openxmlformats.org/officeDocument/2006/relationships" id="263" r:id="R5d0cce5d08ad4aa0"/>
    <p:sldId xmlns:r="http://schemas.openxmlformats.org/officeDocument/2006/relationships" id="264" r:id="R45e9d9a731f54878"/>
    <p:sldId xmlns:r="http://schemas.openxmlformats.org/officeDocument/2006/relationships" id="265" r:id="Ra86356d854664394"/>
    <p:sldId xmlns:r="http://schemas.openxmlformats.org/officeDocument/2006/relationships" id="266" r:id="Rb8c4a6d489484402"/>
    <p:sldId xmlns:r="http://schemas.openxmlformats.org/officeDocument/2006/relationships" id="267" r:id="R25d9ffc48d9e4795"/>
    <p:sldId xmlns:r="http://schemas.openxmlformats.org/officeDocument/2006/relationships" id="268" r:id="Ra6300b634ca54c23"/>
    <p:sldId xmlns:r="http://schemas.openxmlformats.org/officeDocument/2006/relationships" id="269" r:id="Ra53ae395bd8d4a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e417acaad4e26" /><Relationship Type="http://schemas.openxmlformats.org/officeDocument/2006/relationships/theme" Target="/ppt/theme/theme1.xml" Id="Rfac8a03f4c9f418d" /><Relationship Type="http://schemas.openxmlformats.org/officeDocument/2006/relationships/notesMaster" Target="/ppt/notesMasters/notesMaster1.xml" Id="Rd69df65c064e4a0c" /><Relationship Type="http://schemas.openxmlformats.org/officeDocument/2006/relationships/presProps" Target="/ppt/presProps.xml" Id="Rd69322e4d8f142d0" /><Relationship Type="http://schemas.openxmlformats.org/officeDocument/2006/relationships/viewProps" Target="/ppt/viewProps.xml" Id="R7776f2ed9cc341fc" /><Relationship Type="http://schemas.openxmlformats.org/officeDocument/2006/relationships/tableStyles" Target="/ppt/tableStyles.xml" Id="R9171dbb19b3642e4" /><Relationship Type="http://schemas.openxmlformats.org/officeDocument/2006/relationships/slide" Target="/ppt/slides/slide1.xml" Id="R0e4b8b21528f4753" /><Relationship Type="http://schemas.openxmlformats.org/officeDocument/2006/relationships/slide" Target="/ppt/slides/slide2.xml" Id="Rc924cd91472d4bd7" /><Relationship Type="http://schemas.openxmlformats.org/officeDocument/2006/relationships/slide" Target="/ppt/slides/slide3.xml" Id="Rd020fd29a2904811" /><Relationship Type="http://schemas.openxmlformats.org/officeDocument/2006/relationships/slide" Target="/ppt/slides/slide4.xml" Id="R8ba638ec190b40a2" /><Relationship Type="http://schemas.openxmlformats.org/officeDocument/2006/relationships/slide" Target="/ppt/slides/slide5.xml" Id="Rb8b6c4943dc14629" /><Relationship Type="http://schemas.openxmlformats.org/officeDocument/2006/relationships/slide" Target="/ppt/slides/slide6.xml" Id="R3af29d30f1334622" /><Relationship Type="http://schemas.openxmlformats.org/officeDocument/2006/relationships/slide" Target="/ppt/slides/slide7.xml" Id="R42044369b8fd4b74" /><Relationship Type="http://schemas.openxmlformats.org/officeDocument/2006/relationships/slide" Target="/ppt/slides/slide8.xml" Id="R5d0cce5d08ad4aa0" /><Relationship Type="http://schemas.openxmlformats.org/officeDocument/2006/relationships/slide" Target="/ppt/slides/slide9.xml" Id="R45e9d9a731f54878" /><Relationship Type="http://schemas.openxmlformats.org/officeDocument/2006/relationships/slide" Target="/ppt/slides/slide10.xml" Id="Ra86356d854664394" /><Relationship Type="http://schemas.openxmlformats.org/officeDocument/2006/relationships/slide" Target="/ppt/slides/slide11.xml" Id="Rb8c4a6d489484402" /><Relationship Type="http://schemas.openxmlformats.org/officeDocument/2006/relationships/slide" Target="/ppt/slides/slide12.xml" Id="R25d9ffc48d9e4795" /><Relationship Type="http://schemas.openxmlformats.org/officeDocument/2006/relationships/slide" Target="/ppt/slides/slide13.xml" Id="Ra6300b634ca54c23" /><Relationship Type="http://schemas.openxmlformats.org/officeDocument/2006/relationships/slide" Target="/ppt/slides/slide14.xml" Id="Ra53ae395bd8d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c8dd6142b0d4d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9b779dd03d4222" /><Relationship Type="http://schemas.openxmlformats.org/officeDocument/2006/relationships/notesMaster" Target="/ppt/notesMasters/notesMaster1.xml" Id="Re0dc93eff66c45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26c29d14b24359" /><Relationship Type="http://schemas.openxmlformats.org/officeDocument/2006/relationships/notesMaster" Target="/ppt/notesMasters/notesMaster1.xml" Id="Rda181e4ba8474b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d54d3142bd44df" /><Relationship Type="http://schemas.openxmlformats.org/officeDocument/2006/relationships/notesMaster" Target="/ppt/notesMasters/notesMaster1.xml" Id="Ra7c89f9c474646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f11ce295744e38" /><Relationship Type="http://schemas.openxmlformats.org/officeDocument/2006/relationships/notesMaster" Target="/ppt/notesMasters/notesMaster1.xml" Id="R328c0dea64a242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06b29efa534fb0" /><Relationship Type="http://schemas.openxmlformats.org/officeDocument/2006/relationships/notesMaster" Target="/ppt/notesMasters/notesMaster1.xml" Id="R3afb41720c3540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1af11e3a07458b" /><Relationship Type="http://schemas.openxmlformats.org/officeDocument/2006/relationships/notesMaster" Target="/ppt/notesMasters/notesMaster1.xml" Id="R4771b4f1523141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647ced38764c9f" /><Relationship Type="http://schemas.openxmlformats.org/officeDocument/2006/relationships/notesMaster" Target="/ppt/notesMasters/notesMaster1.xml" Id="R66c36c790e6848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97d968bc66463d" /><Relationship Type="http://schemas.openxmlformats.org/officeDocument/2006/relationships/notesMaster" Target="/ppt/notesMasters/notesMaster1.xml" Id="R3f08ca92219b44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fd1d6dcfaa4375" /><Relationship Type="http://schemas.openxmlformats.org/officeDocument/2006/relationships/notesMaster" Target="/ppt/notesMasters/notesMaster1.xml" Id="R101ee54e4e6f4cc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5da8d068ca4fd1" /><Relationship Type="http://schemas.openxmlformats.org/officeDocument/2006/relationships/notesMaster" Target="/ppt/notesMasters/notesMaster1.xml" Id="R04952a2891c94e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cb60961c5d4fe5" /><Relationship Type="http://schemas.openxmlformats.org/officeDocument/2006/relationships/notesMaster" Target="/ppt/notesMasters/notesMaster1.xml" Id="Rc671ae5f2c5543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01f59ff68e4db2" /><Relationship Type="http://schemas.openxmlformats.org/officeDocument/2006/relationships/notesMaster" Target="/ppt/notesMasters/notesMaster1.xml" Id="R7f3fefcd07c749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ef3c0caab3474a" /><Relationship Type="http://schemas.openxmlformats.org/officeDocument/2006/relationships/notesMaster" Target="/ppt/notesMasters/notesMaster1.xml" Id="R516c2b7acbbc40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5d3f5188b44e3c" /><Relationship Type="http://schemas.openxmlformats.org/officeDocument/2006/relationships/notesMaster" Target="/ppt/notesMasters/notesMaster1.xml" Id="R6c825c4d069549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35299752a48f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e49b3fa6cfb456e" /><Relationship Type="http://schemas.openxmlformats.org/officeDocument/2006/relationships/slideLayout" Target="/ppt/slideLayouts/slideLayout2.xml" Id="Rf116f657974142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16f657974142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38f7c7ee384215" /><Relationship Type="http://schemas.openxmlformats.org/officeDocument/2006/relationships/notesSlide" Target="/ppt/notesSlides/notesSlide1.xml" Id="R78f8af3d53ce40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f0c17c5a4b4ab8" /><Relationship Type="http://schemas.openxmlformats.org/officeDocument/2006/relationships/notesSlide" Target="/ppt/notesSlides/notesSlide2.xml" Id="Ra7cbe6640ab744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ee94f3f1cc4f40" /><Relationship Type="http://schemas.openxmlformats.org/officeDocument/2006/relationships/notesSlide" Target="/ppt/notesSlides/notesSlide3.xml" Id="R03161b10462340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b1cf0eb5ab47eb" /><Relationship Type="http://schemas.openxmlformats.org/officeDocument/2006/relationships/notesSlide" Target="/ppt/notesSlides/notesSlide4.xml" Id="Rd46afe42c30546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bcf159780452a" /><Relationship Type="http://schemas.openxmlformats.org/officeDocument/2006/relationships/notesSlide" Target="/ppt/notesSlides/notesSlide5.xml" Id="Rfa88d8aa69b249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5593ed17c141eb" /><Relationship Type="http://schemas.openxmlformats.org/officeDocument/2006/relationships/notesSlide" Target="/ppt/notesSlides/notesSlide6.xml" Id="R33e8f5c6fb3b45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509ae1d6b74a12" /><Relationship Type="http://schemas.openxmlformats.org/officeDocument/2006/relationships/notesSlide" Target="/ppt/notesSlides/notesSlide7.xml" Id="Rb59baea3dd894d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87cde23c0d44f2" /><Relationship Type="http://schemas.openxmlformats.org/officeDocument/2006/relationships/notesSlide" Target="/ppt/notesSlides/notesSlide8.xml" Id="R40189cc0917741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48e05dceb849ca" /><Relationship Type="http://schemas.openxmlformats.org/officeDocument/2006/relationships/notesSlide" Target="/ppt/notesSlides/notesSlide9.xml" Id="R01b78c45e94347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15d9c27d314a08" /><Relationship Type="http://schemas.openxmlformats.org/officeDocument/2006/relationships/notesSlide" Target="/ppt/notesSlides/notesSlide10.xml" Id="Rf1f98f364e8145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107ba0f6294c35" /><Relationship Type="http://schemas.openxmlformats.org/officeDocument/2006/relationships/notesSlide" Target="/ppt/notesSlides/notesSlide11.xml" Id="Rfe318f81be7447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4124c308474b75" /><Relationship Type="http://schemas.openxmlformats.org/officeDocument/2006/relationships/notesSlide" Target="/ppt/notesSlides/notesSlide12.xml" Id="R8f5ce649d1b744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e805c06ebd4cf8" /><Relationship Type="http://schemas.openxmlformats.org/officeDocument/2006/relationships/notesSlide" Target="/ppt/notesSlides/notesSlide13.xml" Id="R23a904b6299d46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d8a0b6b3c24217" /><Relationship Type="http://schemas.openxmlformats.org/officeDocument/2006/relationships/notesSlide" Target="/ppt/notesSlides/notesSlide14.xml" Id="Rd91481d6eebb41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7B2EBD-EB4C-4A7D-BE82-FFE6D886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035F5-416F-4B5C-BBCC-F7108813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9150"/>
            <a:ext cx="7905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Enterprise Text-to-SQL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7BB53-99CC-4D24-B5E1-7A532C37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858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Natural-language analytics for safe SQLite decision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913C5-A9FE-4385-B833-FD77CA4C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5DD34-79C5-4573-B0B5-0EFB237B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benchmark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300D2-2290-4981-A0E5-CFCE7600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8956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C8C7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C8C7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A96E8-3A24-49F3-970A-B10A87F5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52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domains: university, retail, healthcare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97182-CA95-4813-A5E3-2D6D8B33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956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E19A2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E19A2E"/>
                </a:solidFill>
                <a:latin typeface="Aptos"/>
                <a:ea typeface="Aptos"/>
                <a:cs typeface="Aptos"/>
              </a:rPr>
              <a:t>11/12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0331A-A1F2-4EF5-9B86-E949ABA0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528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Gemini value match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340BAA-C00E-47B7-9F93-07737919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6572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BC09C-CA70-4538-9C6C-80C915FB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4019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D4DE3-A95E-439F-9AD6-03B6725A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910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Student 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DBCB8-283D-45AC-97CE-47610C9C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D94202-534A-462B-8FD1-406EF875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Huy Duc Vu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7EB6CA-450F-4375-85E4-BEE2FC7B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9149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25728181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21970-55AE-47E6-9D3A-935355B5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CAC4C7-578D-47A5-93AE-9F4533BC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Ngoc Bao Tran Nguyen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26A91A-6B6A-487F-8689-210FCFAA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2006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25611551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93C30-6FE6-4557-B8B1-1133E96A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0872C-2521-44F5-85C4-51773B0C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Manh Tuan Nguyen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51D2EE-DFC4-46CD-A826-2C022185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8640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25739083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CBEC3-F5E5-46C6-9C30-8799AA03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6572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5FED2C-057E-46CE-B449-0A02CB08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72150"/>
            <a:ext cx="4000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Nguyen Nghia Doan Dang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0985E-6A10-481E-91FD-AE81E5AC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7721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26201968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8001DF-717A-48A8-81AA-9A033B50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626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Live demo: aipa-text-to-sql-agent.streamlit.app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2D974-E8B3-43E9-83CA-FDC438E1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3074E6-4426-4F1A-BFE1-DFD4BB6A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16768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E61756-8CBB-4AE2-ACD4-53F0C132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EA4DA-EE74-448A-8C6B-B2879E9A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33C07-B0D8-4DCA-A036-F9694FBF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Database access breaks down when users cannot write SQL.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790BD-58A6-4F20-A781-39C390DA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goal is natural-language analytics that stays grounded, transparent, evaluated, and read-only.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C4DB4-4BEB-476B-A66F-33664568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5B945-632A-44B0-AD4B-20F5AED8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3EF9B-E3DC-443C-8464-86CB1A06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457B2-99BC-4EDE-A257-9780C860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82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A06EB8-CFA9-44B0-A067-7D0CA42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76450"/>
            <a:ext cx="478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Risk or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4D16D6-805C-40A1-ABEA-8E92B37B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4492C-88A2-45DA-8F60-40D25BA1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Ask analyst for 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B2EB1-FDB6-4268-976E-1AA5A98F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955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Slow decision cycle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B575B-9E35-469A-972A-0640BCC0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BA2479-07E8-43E4-BADA-9BC03247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Copy data into spreadsheets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D3116-C004-4A37-AF7E-42027278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Error-prone and hard to govern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BFBA0-EEAC-458C-9734-794419BD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09A01A-2082-4EAD-9C0F-58D6E5D4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Let LLM query directly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6A15C7-43E2-45E4-8C5A-A2919752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147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Unsafe without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B426B-FE06-4AB4-98DA-2622A52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895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D5D209-DE08-49DD-9654-7620439D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3810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Hide generated 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3539D-D14C-403E-BC3E-D65BD450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324350"/>
            <a:ext cx="4762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Low transparency</a:t>
            </a:r>
          </a:p>
        </p:txBody>
      </p:sp>
    </p:spTree>
    <p:extLst>
      <p:ext uri="{BB962C8B-B14F-4D97-AF65-F5344CB8AC3E}">
        <p14:creationId xmlns:p14="http://schemas.microsoft.com/office/powerpoint/2010/main" val="10648080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787C4-D83E-4712-8843-E4A662E0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2F417-AD95-4883-9D34-30950523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AI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C67E9-1B6B-4694-9D3D-E9A8FF37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agent combines retrieval, generation, and symbolic safety.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566D6-F06C-4F92-B56C-D264934D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The design is hybrid because Text-to-SQL needs both flexible language understanding and strict execution control.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65D90-8C92-4F93-B501-FB1F25C53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050CA-2454-455F-8BA8-6173293F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03978-38CE-4B1C-ABDE-C89A8B90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572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0190E6-F93F-4AA1-B7E9-307DE97C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paradigm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C4BB4B-E945-4CC9-927B-6504C1D0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1962150"/>
            <a:ext cx="7258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Role in the 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C7BBC-EE1F-4C5D-B9E2-67452827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70911-5FDB-48EE-BF1A-2DBD57F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Knowledge representation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2F5C1-DEF4-44EE-A511-F90A6165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622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Schema represented as tables, columns, DDL, and foreign keys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5EA50-76C3-48B1-AC1E-A090D5D2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B8594-1DAC-4E65-B957-18E03CD1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Retrieval augmented generation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78E77E-9338-4596-8BDF-3DE7914F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Schema RAG selects relevant table context before prompting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C456C-DE18-4B64-B21C-63907F18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3FF2EF-2F72-4269-93AE-84D541D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Generative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8A69C-3BEE-4D11-AB26-17BA58FB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4671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Gemini or Ollama translates the question into SQLite 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FB8C3-D1F6-4DA6-B50C-9B2627D1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40D37-F6EC-4335-BFF7-19F7974D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Logic-based reasoning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C4B9E-4441-4A98-AA92-62320677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195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Validators and SQLite authorizer enforce read-only execution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EAF5E-2796-40FE-9455-542E3FB9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57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66D109-1B26-4C17-86A8-8875A2D0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Empirical 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1432D4-100E-48F6-95E9-937D4EB7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720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Generated results are compared with gold SQL answers</a:t>
            </a:r>
          </a:p>
        </p:txBody>
      </p:sp>
    </p:spTree>
    <p:extLst>
      <p:ext uri="{BB962C8B-B14F-4D97-AF65-F5344CB8AC3E}">
        <p14:creationId xmlns:p14="http://schemas.microsoft.com/office/powerpoint/2010/main" val="17727464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450943-51BE-4D60-A64C-AD7A8C3D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88423-7955-4AD0-8111-0CC52B51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DD41B-B119-4523-AEF5-0D2A86A1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LLM proposes SQL; the application controls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761E1-56D6-405B-82C0-C6C5B694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 the exported architecture diagram for a more detailed version.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D700D-0404-4B68-BBA3-7B8105E5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D9452-457D-4A77-B402-4D3BDCE3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782CF-A50F-4BD3-88BB-E5351BB5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E9C7D-B2DB-4FCA-AABE-BEBA5FBD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C3768-4B66-4AE1-BBD7-329F369D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05125"/>
            <a:ext cx="781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48621-DB87-4ADE-98AA-5134F946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59711-2ECD-46C6-B73E-8DE4E8D8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575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D1FD93-4614-47E9-821D-2E39FA4C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952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7E8017-D2B1-4CFB-BB16-D2B7F131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905125"/>
            <a:ext cx="781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Schema RAG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69A93-4F87-4191-A4C0-9AB631F0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ED2D7-9058-47DB-93DB-3D4BB15F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277FB-9DA3-426C-8A72-2C0E9B9A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52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7212A0-486F-4930-BC82-5894E2B4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05125"/>
            <a:ext cx="781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LLM 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30B6A-842A-403D-B2AF-ED7D17DC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B37D7-8AE6-40F3-8712-B6556FD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DD8"/>
          </a:solidFill>
          <a:ln xmlns:a="http://schemas.openxmlformats.org/drawingml/2006/main" w="9525">
            <a:solidFill>
              <a:srgbClr val="B94A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318CF-55A5-4004-9316-2B7D78D8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52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24B9A-6198-4DDF-A4C6-5C44D0F9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05125"/>
            <a:ext cx="781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A856D-4821-499C-BD82-06158ADE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1641EC-9E8D-44F0-AFC7-E80AFB85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8D9683-F5F4-4BA0-A800-89F4DC72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52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C1DA7D-D649-41B4-A466-81158C80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05125"/>
            <a:ext cx="781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5017E5-7DD7-4DE7-8DA4-9914D6ED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1432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3"/>
          </a:solidFill>
          <a:ln xmlns:a="http://schemas.openxmlformats.org/drawingml/2006/main" w="0">
            <a:solidFill>
              <a:srgbClr val="D9D1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4BC809-CD78-4C7B-8AE3-0F3F082C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D4F512-338C-4AC4-B1DF-4C8424EA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52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F56434-2CA3-44A4-BEAD-1677E1F1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05125"/>
            <a:ext cx="781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6BF8AE-FDFE-4395-BB72-5D4EEBAE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719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Read-only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22E82F-FACD-43CF-910D-040C94DE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E6B9C1-22BD-4043-B510-2985B6DB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291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Generated SQL is shown to users.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E2D742-2668-40FF-BAD9-E719133F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339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1AA1A-15C5-4E3E-B850-B5DDD94F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57775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Unsafe SQL is blocked before SQLite execution.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3E94C2-F87A-43B9-9AD2-27347162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2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9E4DDA-4054-4C66-A0A0-EA9CB163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8640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Only schema metadata is sent to the LLM.</a:t>
            </a:r>
          </a:p>
        </p:txBody>
      </p:sp>
    </p:spTree>
    <p:extLst>
      <p:ext uri="{BB962C8B-B14F-4D97-AF65-F5344CB8AC3E}">
        <p14:creationId xmlns:p14="http://schemas.microsoft.com/office/powerpoint/2010/main" val="17515380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D3B4EE-FDB0-4526-A6D6-5EBB85FC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16E8A-9B6E-4894-B976-27DB3FEE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184D6-9FF0-45AD-9337-45AA6D0A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app is demonstrable, inspectable, and configurable.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DB236-1F98-4E01-AD67-7CC401A6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Screenshots can show the database selector, generated SQL, and retrieved schema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43DDA-BBE5-4598-9259-37779AB9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45910-6CE9-41C2-8FA1-7787E004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2C1D5-2C6E-4BB6-9153-FD810A33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9906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808D4C-B1C8-4F5D-9902-F7EC8D7E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E3B87-97E7-4601-B5D2-71101651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43100"/>
            <a:ext cx="6591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to show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47EC1-5A36-4991-9F14-CDF0354C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E9292F-673B-4B84-9792-8CF3D4EA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Streamlit chat 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AA201B-B93B-4014-A664-CE0CA49F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3431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User asks a natural-language question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B8DFE-CEB6-452C-B38E-582B5572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A1F76-8664-4721-AE28-61830EDD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Demo databases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D61D5-E4CF-48EE-B997-5F466AA8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384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University, retail, healthcare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FD7B3D-A14F-4F50-A580-32D4B45A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E90F1-25D7-4997-83DB-7AA415C6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Gemini + Ollama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81399-72AD-4072-9A24-302120F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337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Provider/model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546DA6-4936-46FA-9B87-BDFB147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97B5ED-3F84-4C68-9B4D-FAEDC6F8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290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Schema RAG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4FC7D-48F8-4D22-BD80-7D55B9C7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290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Selected tables, matched terms, prompt savings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B7FD8-4354-4FDC-9336-B9BBB7F0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291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EBA33-9F7A-4090-A54E-84C0842E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Transparent 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0AC1D2-420D-444B-82F1-91A3FFB4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243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Generated query is displayed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7B7C83-8CC9-46F7-82E4-5DE0F872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78E734-7378-487A-A9BA-8FB68672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9650"/>
            <a:ext cx="2952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Read-only 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22E33F-134F-4607-A21C-3A46509D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196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Safety layer blocks unsafe SQL</a:t>
            </a:r>
          </a:p>
        </p:txBody>
      </p:sp>
    </p:spTree>
    <p:extLst>
      <p:ext uri="{BB962C8B-B14F-4D97-AF65-F5344CB8AC3E}">
        <p14:creationId xmlns:p14="http://schemas.microsoft.com/office/powerpoint/2010/main" val="1418905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9DB882-7055-4BB2-B614-37231BF6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6F9F3-AE0E-4CDE-BC46-46736EE4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E496D-96BC-4F2B-8B2B-6581023D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benchmark compares generated answers against gold SQL.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CF057-3A7C-466B-ACB7-BD0598F2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Metrics cover correctness, safety, retrieval quality, and latency.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D2614-A31F-41BE-8354-F28A65AE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30890-A843-49AB-A2DE-0570A3BB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FC007-C13E-49DF-8F55-D897CAA9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5B5A5-C5DC-4CC0-98DD-4502BA53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8595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F495AC-4D84-4F8C-A9F3-AD0C96C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421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D0976B-B811-4DC3-8501-BAC6134C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7A82A-9B52-4316-AAD7-45D40401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Benchmark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03051-D14F-421D-9D87-4A256EC6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B87B8-5112-4F30-9FC4-DC88C44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09A26-D672-4892-96F9-DAAE2302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Domains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2899B-6ACC-46A1-B22F-0B323B7C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62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University, retail, healthcare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BB0D6B-D1A9-4D04-A9D9-7F97F963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6E05E-2C99-4E6E-B12A-123EECD8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Reference 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510A4-2F69-442D-B9EE-5638DB16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3850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Gold SQL for every question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A3417-A832-4D00-8CFF-E3662583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796B02-88E7-4BCD-84E4-FDDE3F8A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 correctness metric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D0FAA-5EB8-489E-B484-1563708B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147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Value match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344B7C-90AC-4006-924D-C1496B91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09B225-A13F-4D8F-8FDC-D6DD866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Strict metric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C66F38-D429-4DB9-A189-7EA004499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Exact result match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984AFE-753B-4A47-98A8-FA9CB4CF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7239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44DBEB-BEC0-4995-88E5-E9CF4B19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RAG metric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27B5C7-58B3-4F54-9E6F-DB1A3FCB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667250"/>
            <a:ext cx="4191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Schema table recall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4B062C-8C2D-4ADE-9693-C3C718AF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2667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CFB1C5-B71A-4016-A0A1-3D9398F0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19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Evaluation commands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312C1-F00A-41D2-81B6-A0B6A0D6D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95600"/>
            <a:ext cx="21717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8EDF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5"/>
                </a:solidFill>
                <a:latin typeface="Aptos Mono"/>
                <a:ea typeface="Aptos Mono"/>
                <a:cs typeface="Aptos Mono"/>
              </a:rPr>
              <a:t>python3 scripts/evaluate_text_to_sql.py --mode gold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8EDF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5"/>
                </a:solidFill>
                <a:latin typeface="Aptos Mono"/>
                <a:ea typeface="Aptos Mono"/>
                <a:cs typeface="Aptos Mono"/>
              </a:rPr>
              <a:t>--mode llm --provider gemini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E8EDF5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8EDF5"/>
                </a:solidFill>
                <a:latin typeface="Aptos Mono"/>
                <a:ea typeface="Aptos Mono"/>
                <a:cs typeface="Aptos Mono"/>
              </a:rPr>
              <a:t>--mode llm --provider ollama</a:t>
            </a:r>
          </a:p>
        </p:txBody>
      </p:sp>
    </p:spTree>
    <p:extLst>
      <p:ext uri="{BB962C8B-B14F-4D97-AF65-F5344CB8AC3E}">
        <p14:creationId xmlns:p14="http://schemas.microsoft.com/office/powerpoint/2010/main" val="12378581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3C184-846C-48E4-9B39-E04F169F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D5CBA3-A249-4E31-8410-F8D2B79C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9F2B8-AD41-4F51-BB80-BB001080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Gemini leads value correctness; local models remain viable.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719D5-1B20-4779-9F70-1ECBA043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Gold SQL validates the benchmark and the evaluator.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F0ADA-349E-4687-8BFA-6E7DC8CB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8C2C7-4E8A-4EF3-82DA-3B04596F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D7144-FA7D-455B-99BA-34028D84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14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3787F-6AFF-402A-90B2-4A9F0AB2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28800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56F4B-92A8-4460-A22E-50F92EED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D73F4A-316F-4260-B014-AF4B822D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288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F6B75-DE1A-4D50-9C1F-76D8793C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967213-A9BD-4B6B-A951-24A7B7CC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28800"/>
            <a:ext cx="9239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4B18B-4854-4B08-9385-F3FCE929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828800"/>
            <a:ext cx="971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88C3EB-2418-41EE-BD7E-F39381D0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828800"/>
            <a:ext cx="11144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11CA5-7D15-4957-B256-F38ED341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14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379FF5-DCE4-4EB8-A496-ED22093B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Gold SQL baseline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504D5-4D72-456F-B44E-6E54B0A2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479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0AAF9-B081-4DFA-9680-59FE7B94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79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D3F6DB-EBAA-499E-B8CB-B7025E95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479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9C6C2-2712-444B-9026-197D9C7A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4790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C6FBBC-0BA3-4C01-BE21-DAC85CEF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2479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1B5B2-3067-438B-8649-B747E35F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479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0.98 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B0D30-A39A-41B5-8C42-6CC0564C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114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3AEE1-15AA-473B-A023-4A642388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765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Gemini 2.5 Flash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E6B8B-F814-4A85-AF54-A79082C5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76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7CDAEE-7B8B-430A-A912-457BF531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76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5AE81-D4D4-4D2F-B3FD-3AFF408D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765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11/12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D501CA-CB83-4674-91DC-62C99045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7655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6/12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4448BF-B29C-477B-A426-FE82B91E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765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0/12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8B135A-8152-4CB5-825C-DE015D53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765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3.28 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099DA5-21B1-466B-9D8F-893E44BA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1114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68F3F8-E960-4DE6-A8DC-7F83407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Ollama llama3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24C3D4-7485-4238-B0EA-88B4E1C5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D1380A-9ADD-4016-BCAB-4B0738B3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052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400597-9DE1-42FA-8CB1-2C814CC4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0520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8/12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1E5286-A123-406F-A634-8B7CF5FB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50520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5/12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6B343C-3D9D-4D59-8FDA-FC86FD93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5052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0/12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A52216-F329-4EB1-8978-903F27BD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50520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3.78 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0DE3CC-20EF-4AB0-AC95-4CF62DE2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38600"/>
            <a:ext cx="1114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0AF5AE-5383-4D9B-BB73-D81D35D0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33850"/>
            <a:ext cx="295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Ollama gemma4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F47CC1-55ED-4D28-AD36-66A295A2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338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10/12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4A3DC7-D67F-48AC-B8AA-36B0CB0C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1338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10/12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CA46B9-0267-4AC7-BD2E-C949ABF2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338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8/12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D8F051-3579-4DFA-8936-8DE0BAF8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3385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3/12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BFD5075-A629-4F11-AEFF-498150A3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1338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0/12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F64C5F0-87E5-4037-A792-85377205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133850"/>
            <a:ext cx="1095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5.65 s</a:t>
            </a:r>
          </a:p>
        </p:txBody>
      </p:sp>
    </p:spTree>
    <p:extLst>
      <p:ext uri="{BB962C8B-B14F-4D97-AF65-F5344CB8AC3E}">
        <p14:creationId xmlns:p14="http://schemas.microsoft.com/office/powerpoint/2010/main" val="12900329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D02A37-B160-442B-BEB4-55EC7303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5F793-D9F2-4257-86FC-5D3AFD29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2B623-9F80-4B22-BC66-76CA8AA5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Value match is the clearest generated-SQL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533B0-166D-4295-BB40-8CD34CAA7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Exact match is stricter and can fail on aliases, rounding, or row order.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4A529-7780-43BD-9B1B-95D21A0F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5D98D-3543-4EC7-8539-9B40427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52D2D-40BE-4D04-9F70-D158D478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Gold SQL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51EF7-A015-4A5B-97E3-09AA90D1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955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6CDFE-0B9B-4DC7-AA87-8899B299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955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C7C"/>
          </a:solidFill>
          <a:ln xmlns:a="http://schemas.openxmlformats.org/drawingml/2006/main" w="0">
            <a:solidFill>
              <a:srgbClr val="1C8C7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DAFCC-CEFD-4B37-BADA-6E2A0530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2DDA8-E567-4B41-B532-359BDD5D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Gemini 2.5 Flash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9F00A9-C203-4BE8-A654-C1679612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6227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62830B-67EA-479F-A7E5-3F26BDCC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62275"/>
            <a:ext cx="60245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11F166-30CD-4ABA-97CE-FBCA632C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146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11/12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AFF430-07C1-41EE-BBDE-E49E14B0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Ollama llama3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D2CD55-7706-48A1-A620-532AC680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675FF2-E1F7-4F36-93A9-9CA080A4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9A2E"/>
          </a:solidFill>
          <a:ln xmlns:a="http://schemas.openxmlformats.org/drawingml/2006/main" w="0">
            <a:solidFill>
              <a:srgbClr val="E19A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26024A-AA65-4CA5-8696-91B9F93B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5814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8/12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EFD97-AD4C-45ED-8421-C05C247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Ollama gemma4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0735FA-1713-4B98-9082-258E3442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9577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803F72-B872-45F4-922E-835E420D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957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9A2E"/>
          </a:solidFill>
          <a:ln xmlns:a="http://schemas.openxmlformats.org/drawingml/2006/main" w="0">
            <a:solidFill>
              <a:srgbClr val="E19A2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15A4A1-E304-42AA-A416-3097D439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481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8/12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44859E-6ED9-42E9-ACCD-A34CA4F7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8763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Takeaway: Gemini was strongest on value correctness; both local models answered many cases correctly but with lower reliability.</a:t>
            </a:r>
          </a:p>
        </p:txBody>
      </p:sp>
    </p:spTree>
    <p:extLst>
      <p:ext uri="{BB962C8B-B14F-4D97-AF65-F5344CB8AC3E}">
        <p14:creationId xmlns:p14="http://schemas.microsoft.com/office/powerpoint/2010/main" val="11283838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AF7893-FD72-4DF8-960D-94FA4E934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A738E-F866-4E20-9596-998FBB19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6BA4A-6051-49D1-B3D0-046D300F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safety layer catches model failures before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46C33-2E49-4CDB-A4E9-BC4F77B3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Gemma 4 produced two unsafe or truncated outputs on hard retail revenue questions.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27A00-F5F0-478E-85F8-C7E80CCB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6AE48-B493-44AE-B50C-160D4A8B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6E55E-4107-4600-B3D7-7A423AE97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Gold SQL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6D8777-D379-450A-B412-2E66B388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955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453970-66B1-4E00-9277-9AA8509B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955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C7C"/>
          </a:solidFill>
          <a:ln xmlns:a="http://schemas.openxmlformats.org/drawingml/2006/main" w="0">
            <a:solidFill>
              <a:srgbClr val="1C8C7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ADFE78-9EC7-44D8-AE70-6456A6B7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3D2EB-86A9-4D09-A17E-22FD6095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Gemini 2.5 Flash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C678D2-A8AC-47F8-B2E4-69BC2D25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6227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5BE4B-6803-4955-999C-8540FF73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6227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5252F4-7594-4497-8CA7-92C633C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146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15694-9402-4E6A-B453-7AC96735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Ollama llama3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A56ACB-7A0E-4A1D-8F54-D3C13FCB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BA16CC-C04C-4D6F-8C05-396415B0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1F81E-909E-49F3-9744-58C96555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5814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12/12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63B6E-4B78-4B37-A36E-5A97F9C0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Ollama gemma4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8EBED3-7BCB-4A66-9D86-61CBDD1A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9577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09B67E-CAE5-40D5-835D-32832CB3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95775"/>
            <a:ext cx="54768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E5B336-D4C0-4194-9FB1-ABC7C539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481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10/12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0C3F2-536F-47B4-807A-22C2A484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DDD8"/>
          </a:solidFill>
          <a:ln xmlns:a="http://schemas.openxmlformats.org/drawingml/2006/main" w="9525">
            <a:solidFill>
              <a:srgbClr val="B94A4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62A189-064B-4EDD-ABE9-9ED6034C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673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Blocked cases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D2458E-EC18-45A8-BDA8-60CE6954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483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retail_revenue_by_region</a:t>
            </a:r>
          </a:p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retail_revenue_by_category</a:t>
            </a:r>
          </a:p>
        </p:txBody>
      </p:sp>
    </p:spTree>
    <p:extLst>
      <p:ext uri="{BB962C8B-B14F-4D97-AF65-F5344CB8AC3E}">
        <p14:creationId xmlns:p14="http://schemas.microsoft.com/office/powerpoint/2010/main" val="40454839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B15DE-ACDA-4E8C-A20A-A51482EC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38B938-CEF9-4D45-B546-63E135F9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3D3EE-ACE0-4D29-A412-90356062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LLM quality must be judged together with runtime cost.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BF2CA-DC28-4E9C-A154-512CE5EE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SQLite gold queries run in milliseconds; model calls take seconds.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022B6-3588-4E55-A342-60882D14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D4F06A-9E58-4FD8-B72B-65A68043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20507-795D-4759-84F7-681F8B43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Gold SQL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B88C9D-6D5A-413A-BD55-38E6D685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955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D86E2-B1CB-4D50-8961-A4293747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295525"/>
            <a:ext cx="1163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C7C"/>
          </a:solidFill>
          <a:ln xmlns:a="http://schemas.openxmlformats.org/drawingml/2006/main" w="0">
            <a:solidFill>
              <a:srgbClr val="1C8C7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1A231-14F4-450C-9FFC-6E494031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0.001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EE6F0E-6973-43C0-8E2E-5B469764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Gemini 2.5 Flash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8A0C9-8BB6-4C59-AE96-9CED03F0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6227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878E0-825E-4D55-A037-BCC4407E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62275"/>
            <a:ext cx="381539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E5A0F-DAA3-47D5-94D4-DA74E44D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9146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3.28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D500A-9F07-4465-8539-ECB2C34B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Ollama llama3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C3A33-1EFF-4FFD-8FF2-CC20B92E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23860-91DA-4CDB-ACC8-D093246A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629025"/>
            <a:ext cx="439701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9A2E"/>
          </a:solidFill>
          <a:ln xmlns:a="http://schemas.openxmlformats.org/drawingml/2006/main" w="0">
            <a:solidFill>
              <a:srgbClr val="E19A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3800D-B5CE-4476-BD75-64FC9E0A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5814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3.78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42A9F-9D59-416C-8E59-0142D289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276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Ollama gemma4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B2E1AC-9616-4FC9-A75B-D25A4578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9577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6DA"/>
          </a:solidFill>
          <a:ln xmlns:a="http://schemas.openxmlformats.org/drawingml/2006/main" w="0">
            <a:solidFill>
              <a:srgbClr val="ECE6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9978D6-086E-41B2-AB93-06C2A3CF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95775"/>
            <a:ext cx="657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A211C7-3865-4E43-8252-EFC81A1B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481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5.65 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22E17-E26C-4EF8-9531-976CC201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149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Production needs caching, monitoring, retry policy,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33917481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4AB227-B04A-4736-B949-AC1BC7AC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836D6-3281-4481-B5E1-D7F8049F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DA19C-8974-4339-A279-A73DFF23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result pattern supports a hybrid architecture.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D6DF63-A07F-4E21-A55D-7E033D30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Generation works best when surrounded by grounding, visibility, and safety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745AB-B78F-4087-B80D-B92D8728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7D750-5F11-466C-B815-BF597EA5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2FC89-EED5-4CA2-B52D-66577685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287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F6D3F-7CFE-4DE3-B04B-5ADD7CB5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3257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02C7B-1C43-4375-AAC6-3321615D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6686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15E43-F702-4651-919B-F01FCEE8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D42D9-DDA5-4A27-B268-841FD90D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Gold baseline: 12/12 exact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0CFFF-1A26-479F-AD40-0E6A37A2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286000"/>
            <a:ext cx="666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Benchmark, gold SQL, and evaluator are valid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49B732-241D-4F80-A09C-62582E29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8F238-8B3B-4604-B456-3FFE337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Schema recall: 1.0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CED33-D8CF-4E4F-8284-3DF10DA4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95600"/>
            <a:ext cx="666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RAG retrieved expected relevant tables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ACA0B-606A-4042-8E30-8A0B304F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B5E68-5EF7-42BA-A62B-C0A94169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Gemini: 11/12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12EF1-F481-493A-AE84-00ADF32F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05200"/>
            <a:ext cx="666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Hosted LLM gave strongest generated-SQL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01D29-3ED5-4D4E-8629-287F8519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195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C40165-F29A-452D-B990-AF64BE14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LLM exact match: 0/12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DE99A-3E00-4022-9F1A-05BA72D8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14800"/>
            <a:ext cx="666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Strict metric penalises aliases, row order, and column names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229421-DADE-49CA-8C31-79A72CAC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33EA03-6ACC-4060-BE15-B2D2B8E3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Llama 3 executed all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265671-1545-4AE1-9DFC-1CB25016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724400"/>
            <a:ext cx="666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Safer local default than Gemma 4 in this benchmark</a:t>
            </a:r>
          </a:p>
        </p:txBody>
      </p:sp>
    </p:spTree>
    <p:extLst>
      <p:ext uri="{BB962C8B-B14F-4D97-AF65-F5344CB8AC3E}">
        <p14:creationId xmlns:p14="http://schemas.microsoft.com/office/powerpoint/2010/main" val="16102903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1DBFE0-0F19-4C4F-9814-D0D7C9F9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C1E63-FFDE-4A3F-9996-A18403E3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B6B16-0516-42C3-AAA5-47D4AF3A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prototype reduces risk but does not remove oversight needs.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A37EB-04A3-48E3-ADFF-3B6B04F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High-stakes deployment would require stronger controls and human review.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ADE62A-362A-4A5D-8027-516813DD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A39C9-08F0-42E2-9021-77EF7DFC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F13F1-51F1-4E53-9D27-3D48897A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076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DB44B-308A-401D-A43E-F212EABC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1543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75BA5-60A1-4B0E-BFFB-CA684684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411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BEBDE2-3BC6-4828-AB56-1CFBDA12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91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improvement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366F5-EE24-43B2-9F2A-DF9070D8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52650"/>
            <a:ext cx="1076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C05FA8-51D8-4C61-A9AE-8EA37D79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58F6C0-E407-4CF2-A39F-399646FB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479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Schema metadata, not raw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4A78E-FDE8-461A-B76E-A4E894A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Access control and de-identification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1DCC6-B432-4235-B7C9-D3DF87CC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0"/>
            <a:ext cx="1076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5622E-80A4-4B94-9277-908A17C7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0B61B-EACD-42A7-8272-C61DD604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8575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Read-only validation and authorizer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92095-DD3E-4B09-9E55-971DC7C8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Stronger AST policy and audit logs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C6E0F3-918D-4C0B-8FA5-D99BCCBD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1076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5B43A-226C-4ECD-B6DF-2196D257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Correctness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1F7E56-4111-4B2F-9AFE-41E53F4B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671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Gold SQL benchmark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57E43D-B4D4-4090-A4D2-3F71A07F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6710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Larger benchmark and feedback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7481F9-9485-48D7-B514-AA5F43FC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81450"/>
            <a:ext cx="1076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88F8B-2766-4E58-BD73-11E3DC9C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A26271-33C9-411A-AD84-E74082F7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0767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Gemini key failover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01158-CC86-42E3-A119-2F230515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7670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Monitoring, caching, retry policy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28EAA7-5F0B-4E18-8332-5669C528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10763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8AB8B2-D191-47B9-8E98-B036FBE9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52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Usability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D778CA-9450-4767-B9EE-D45B598D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863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SQL and retrieval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D1B9CF-D9ED-450A-BFE4-EA5DC636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86300"/>
            <a:ext cx="457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Charts, explanations, query history</a:t>
            </a:r>
          </a:p>
        </p:txBody>
      </p:sp>
    </p:spTree>
    <p:extLst>
      <p:ext uri="{BB962C8B-B14F-4D97-AF65-F5344CB8AC3E}">
        <p14:creationId xmlns:p14="http://schemas.microsoft.com/office/powerpoint/2010/main" val="94521725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9617EF-109D-4F9B-800E-AE36D90B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4FF50-ADF8-47B6-AE48-33ECD83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D6CD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CDF"/>
                </a:solidFill>
                <a:latin typeface="Aptos"/>
                <a:ea typeface="Aptos"/>
                <a:cs typeface="Aptos"/>
              </a:rPr>
              <a:t>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24D0B-0ADA-4663-89F1-5B399E14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project combines framing, implementation, evaluation, and documentation.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86ACC-312A-43D7-9682-0E7EF105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Each contribution maps to visible evidence in the repository.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A9E7B-B776-467F-99E6-0DF8B79B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F2335-46BE-4C27-BB6B-473DE987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D7F2F-D04B-4F5B-9E90-6E0C7F7A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47850"/>
            <a:ext cx="10763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BC00A-D503-4747-ABF8-FCFAB57C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24050"/>
            <a:ext cx="2400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Member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5C33F-5A37-43DA-AA6F-55E3394A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24050"/>
            <a:ext cx="802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contribution areas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4A466C-0BCF-4FEC-8F6A-2EED16B6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2885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9E43B-2AB5-49D3-A3E0-A4B6D0D4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Huy Duc Vu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8A495-96A3-4B70-B6FB-B1329E1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3241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Project framing, report development, responsible AI discussion, evaluation 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E2B3F-7410-417F-9573-E6AEECF9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B6702E-2A4B-47E6-A751-06811647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Ngoc Bao Tran Nguyen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5447F-FBDB-41CA-A0E5-9CA20D3F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Frontend usability, Streamlit workflow, screenshots/demo preparation, user-facing explanation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7DDDF-9A3E-4B25-B1F6-9BE453D7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9095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CF5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0D67C-C8EA-4F91-B655-06587FF7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Manh Tuan Nguyen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1AD74-A9AD-4762-8A43-FE6C6BD0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8620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Backend pipeline, LLM integration, Schema RAG, repository organisation, deployment configuration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235C30-2350-409E-B6C8-8646AAFF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1076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BDD"/>
          </a:solidFill>
          <a:ln xmlns:a="http://schemas.openxmlformats.org/drawingml/2006/main" w="9525">
            <a:solidFill>
              <a:srgbClr val="D9D1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64B110-EA22-452B-BA59-7474C753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Nguyen Nghia Doan Dang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1521A-A42F-48A2-97EC-03067664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67250"/>
            <a:ext cx="800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Benchmark datasets, evaluation cases, gold SQL validation, evaluation scripts, reproducibility instructions</a:t>
            </a:r>
          </a:p>
        </p:txBody>
      </p:sp>
    </p:spTree>
    <p:extLst>
      <p:ext uri="{BB962C8B-B14F-4D97-AF65-F5344CB8AC3E}">
        <p14:creationId xmlns:p14="http://schemas.microsoft.com/office/powerpoint/2010/main" val="159223460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028D63-D8E3-4F1F-9337-E44281E4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BF950-CFEB-4663-A593-E42C70F85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76300"/>
            <a:ext cx="9048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Text-to-SQL is useful only when generation is grounded, visible, safe, and evaluated.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2BF17B-95C6-4284-AD24-40B6EB7A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8FF66-0218-4D58-8A81-AF8D985F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81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Working Streamlit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AABB2F-0715-4420-91AA-1D017F39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D3DFE-EAA0-4C1D-804D-14100148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0992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Refactored backend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D3BF0A-7F61-4DB6-9BBE-4260F6DC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640E2-EC7A-4666-BC2C-22CC0A2D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385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Hybrid Schema RAG and read-only safety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02F7F-21DA-435F-A09E-7CBABCA8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43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07C26-52EB-48DE-A35C-7328F79E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67175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12-case benchmark across three domains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8720A-969B-4A28-987E-F3060C69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CDF"/>
          </a:solidFill>
          <a:ln xmlns:a="http://schemas.openxmlformats.org/drawingml/2006/main" w="0">
            <a:solidFill>
              <a:srgbClr val="2D6C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2730D6-4D83-4DDE-9B6F-B67EC3ED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Gemini and Ollama evaluation results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B18DB-2203-4794-8566-AA5859996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2190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2A"/>
          </a:solidFill>
          <a:ln xmlns:a="http://schemas.openxmlformats.org/drawingml/2006/main" w="0">
            <a:solidFill>
              <a:srgbClr val="1720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666E6-6277-409C-B27F-B17AFC6A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385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A7113-1C32-472C-BC58-B2F327BD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8EDF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DF5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77AF4-74EC-4E6C-8AD0-CA9FB81E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Enterprise Text-to-SQL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1A349-D8AC-40AC-AB8B-02F636F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19850"/>
            <a:ext cx="40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454141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2026-05-19T03:28:30.5980000Z</dcterms:created>
  <dcterms:modified xsi:type="dcterms:W3CDTF">2026-05-19T03:28:30.5980000Z</dcterms:modified>
</coreProperties>
</file>